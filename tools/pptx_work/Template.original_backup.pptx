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lay"/>
      <p:regular r:id="rId18"/>
      <p:bold r:id="rId19"/>
    </p:embeddedFont>
    <p:embeddedFont>
      <p:font typeface="Sarabun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8LeIJXJ00/cSkjUWbPLuOuZ7u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arabun-regular.fntdata"/><Relationship Id="rId11" Type="http://schemas.openxmlformats.org/officeDocument/2006/relationships/slide" Target="slides/slide5.xml"/><Relationship Id="rId22" Type="http://schemas.openxmlformats.org/officeDocument/2006/relationships/font" Target="fonts/Sarabun-italic.fntdata"/><Relationship Id="rId10" Type="http://schemas.openxmlformats.org/officeDocument/2006/relationships/slide" Target="slides/slide4.xml"/><Relationship Id="rId21" Type="http://schemas.openxmlformats.org/officeDocument/2006/relationships/font" Target="fonts/Sarabun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Sarabun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font" Target="fonts/Play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2147006" y="1014984"/>
            <a:ext cx="24176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งานกลุ่ม (เช้า) 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548640" y="1600200"/>
            <a:ext cx="2670048" cy="324612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548640" y="1600200"/>
            <a:ext cx="2670048" cy="822960"/>
          </a:xfrm>
          <a:prstGeom prst="roundRect">
            <a:avLst>
              <a:gd fmla="val 8889" name="adj"/>
            </a:avLst>
          </a:prstGeom>
          <a:solidFill>
            <a:srgbClr val="1B99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768096" y="1719072"/>
            <a:ext cx="23042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01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68096" y="2606040"/>
            <a:ext cx="2231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Insight Transfer Matrix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68096" y="3429000"/>
            <a:ext cx="223113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กระดานแปลงข้อค้นพบจากคูโบต้าฟาร์มเป็นฟีเจอร์ของโครงการ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3355848" y="1600200"/>
            <a:ext cx="2670048" cy="324612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3355848" y="1600200"/>
            <a:ext cx="2670048" cy="822960"/>
          </a:xfrm>
          <a:prstGeom prst="roundRect">
            <a:avLst>
              <a:gd fmla="val 8889" name="adj"/>
            </a:avLst>
          </a:prstGeom>
          <a:solidFill>
            <a:srgbClr val="12756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3575304" y="1719072"/>
            <a:ext cx="23042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02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3575304" y="2606040"/>
            <a:ext cx="2231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Feedback Capture Grid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3575304" y="3429000"/>
            <a:ext cx="223113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บันทึกข้อเสนอแนะจากทุกฐานของผู้เชี่ยวชาญกรมฯ พร้อมการจัดกลุ่ม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6163056" y="1600200"/>
            <a:ext cx="2670048" cy="324612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6163056" y="1600200"/>
            <a:ext cx="2670048" cy="822960"/>
          </a:xfrm>
          <a:prstGeom prst="roundRect">
            <a:avLst>
              <a:gd fmla="val 8889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6382512" y="1719072"/>
            <a:ext cx="23042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03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6382512" y="2606040"/>
            <a:ext cx="2231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AI Service Blueprint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6382512" y="3429000"/>
            <a:ext cx="223113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ผังบริการครบทั้ง 6 ชั้น ตั้งแต่ผู้ใช้งานจนถึงแผนสำรอง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8970264" y="1600200"/>
            <a:ext cx="2670048" cy="324612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8970264" y="1600200"/>
            <a:ext cx="2670048" cy="822960"/>
          </a:xfrm>
          <a:prstGeom prst="roundRect">
            <a:avLst>
              <a:gd fmla="val 8889" name="adj"/>
            </a:avLst>
          </a:prstGeom>
          <a:solidFill>
            <a:srgbClr val="E39B3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9189720" y="1719072"/>
            <a:ext cx="23042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04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9189720" y="2606040"/>
            <a:ext cx="2231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Loophole &amp; Fix List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9189720" y="3429000"/>
            <a:ext cx="223113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รายการช่องโหว่ที่กลุ่มอื่นตรวจพบ พร้อมแนวทางแก้ไข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fmla="val 6400" name="adj"/>
            </a:avLst>
          </a:prstGeom>
          <a:solidFill>
            <a:srgbClr val="FFF6E8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822960" y="51937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9B32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E39B32"/>
                </a:solidFill>
                <a:latin typeface="Sarabun"/>
                <a:ea typeface="Sarabun"/>
                <a:cs typeface="Sarabun"/>
                <a:sym typeface="Sarabun"/>
              </a:rPr>
              <a:t>และการบ้านสำหรับคืนนี้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22960" y="54864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350"/>
              <a:buFont typeface="Sarabun"/>
              <a:buNone/>
            </a:pPr>
            <a:r>
              <a:rPr b="0" i="0" lang="en-US" sz="13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Innovation Challenge 2: The Worst-Case Scenario — จำลองสถานการณ์วิกฤต 3 กรณี พร้อมแผนสำรองครบทุกกรณี เพื่อเตรียมตอบคำถาม (Defend) ในเช้าวันพรุ่งนี้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Sarabun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442429" y="190500"/>
            <a:ext cx="2880360" cy="566928"/>
          </a:xfrm>
          <a:prstGeom prst="roundRect">
            <a:avLst>
              <a:gd fmla="val 1451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lendar_amber.png" id="119" name="Google Shape;1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021" y="3276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/>
          <p:nvPr/>
        </p:nvSpPr>
        <p:spPr>
          <a:xfrm>
            <a:off x="991069" y="19050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วันพุธที่ 22 กรกฎาคม 2569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515815" y="922958"/>
            <a:ext cx="5547359" cy="4044462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7661540" y="1069132"/>
            <a:ext cx="244155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งาน</a:t>
            </a:r>
            <a:r>
              <a:rPr b="1" lang="en-US" sz="3000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เ</a:t>
            </a: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ดี่ยว (บ่าย)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6104441" y="922958"/>
            <a:ext cx="5547360" cy="4044462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/>
          <p:nvPr/>
        </p:nvSpPr>
        <p:spPr>
          <a:xfrm>
            <a:off x="1030458" y="2788920"/>
            <a:ext cx="10131083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9B32"/>
              </a:buClr>
              <a:buSzPts val="7200"/>
              <a:buFont typeface="Sarabun"/>
              <a:buNone/>
            </a:pPr>
            <a:r>
              <a:rPr b="1" i="0" lang="en-US" sz="7200" u="none" cap="none" strike="noStrike">
                <a:solidFill>
                  <a:srgbClr val="E39B32"/>
                </a:solidFill>
                <a:latin typeface="Sarabun"/>
                <a:ea typeface="Sarabun"/>
                <a:cs typeface="Sarabun"/>
                <a:sym typeface="Sarabun"/>
              </a:rPr>
              <a:t>Insight Transfer Matrix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9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1B998B"/>
                </a:solidFill>
                <a:latin typeface="Sarabun"/>
                <a:ea typeface="Sarabun"/>
                <a:cs typeface="Sarabun"/>
                <a:sym typeface="Sarabun"/>
              </a:rPr>
              <a:t>SESSION 2.4 · เครื่องมือ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กระดาน Insight Transfer Matrix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48640" y="1481328"/>
            <a:ext cx="2145182" cy="658368"/>
          </a:xfrm>
          <a:prstGeom prst="roundRect">
            <a:avLst>
              <a:gd fmla="val 8333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40080" y="1481328"/>
            <a:ext cx="196230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สิ่งที่เห็นที่ฟาร์ม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48640" y="2231136"/>
            <a:ext cx="2145182" cy="2880360"/>
          </a:xfrm>
          <a:prstGeom prst="roundRect">
            <a:avLst>
              <a:gd fmla="val 341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2785262" y="1481328"/>
            <a:ext cx="2145182" cy="658368"/>
          </a:xfrm>
          <a:prstGeom prst="roundRect">
            <a:avLst>
              <a:gd fmla="val 8333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876702" y="1481328"/>
            <a:ext cx="196230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Insight เบื้องหลัง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2785262" y="2231136"/>
            <a:ext cx="2145182" cy="2880360"/>
          </a:xfrm>
          <a:prstGeom prst="roundRect">
            <a:avLst>
              <a:gd fmla="val 341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021885" y="1481328"/>
            <a:ext cx="2145182" cy="658368"/>
          </a:xfrm>
          <a:prstGeom prst="roundRect">
            <a:avLst>
              <a:gd fmla="val 8333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113325" y="1481328"/>
            <a:ext cx="196230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ช่องโหว่ของโครงการเรา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5021885" y="2231136"/>
            <a:ext cx="2145182" cy="2880360"/>
          </a:xfrm>
          <a:prstGeom prst="roundRect">
            <a:avLst>
              <a:gd fmla="val 341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7258507" y="1481328"/>
            <a:ext cx="2145182" cy="658368"/>
          </a:xfrm>
          <a:prstGeom prst="roundRect">
            <a:avLst>
              <a:gd fmla="val 8333" name="adj"/>
            </a:avLst>
          </a:prstGeom>
          <a:solidFill>
            <a:srgbClr val="E39B3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7349947" y="1481328"/>
            <a:ext cx="196230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B30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071B30"/>
                </a:solidFill>
                <a:latin typeface="Sarabun"/>
                <a:ea typeface="Sarabun"/>
                <a:cs typeface="Sarabun"/>
                <a:sym typeface="Sarabun"/>
              </a:rPr>
              <a:t>ฟีเจอร์ที่จะเพิ่ม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7258507" y="2231136"/>
            <a:ext cx="2145182" cy="2880360"/>
          </a:xfrm>
          <a:prstGeom prst="roundRect">
            <a:avLst>
              <a:gd fmla="val 3410" name="adj"/>
            </a:avLst>
          </a:prstGeom>
          <a:solidFill>
            <a:srgbClr val="FFF6E8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9495130" y="1481328"/>
            <a:ext cx="2145182" cy="658368"/>
          </a:xfrm>
          <a:prstGeom prst="roundRect">
            <a:avLst>
              <a:gd fmla="val 8333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9586570" y="1481328"/>
            <a:ext cx="196230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ข้อจำกัดที่ต้องเช็ก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9495130" y="2231136"/>
            <a:ext cx="2145182" cy="2880360"/>
          </a:xfrm>
          <a:prstGeom prst="roundRect">
            <a:avLst>
              <a:gd fmla="val 341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694944" y="2377440"/>
            <a:ext cx="18525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ภาพถ่าย/ระบบที่พบ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94944" y="2852928"/>
            <a:ext cx="185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เขียนสิ่งที่เห็นด้วยตา ไม่ใช่การตีความ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94944" y="4572000"/>
            <a:ext cx="18525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2931566" y="2377440"/>
            <a:ext cx="18525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ทำไมจึงได้ผล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931566" y="2852928"/>
            <a:ext cx="18525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อธิบายเหตุผลเบื้องหลังในหนึ่งประโยค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931566" y="4572000"/>
            <a:ext cx="18525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5168189" y="2377440"/>
            <a:ext cx="18525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ผูกกับ Gap ข้อใด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5168189" y="2852928"/>
            <a:ext cx="18525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อ้างอิงช่องโหว่ที่ผู้เชี่ยวชาญชี้ไว้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5168189" y="4572000"/>
            <a:ext cx="18525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7404811" y="2377440"/>
            <a:ext cx="18525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เขียนเป็นประโยคเดียว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7404811" y="2852928"/>
            <a:ext cx="18525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ใครทำอะไรได้ ด้วยข้อมูลอะไร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7404811" y="4572000"/>
            <a:ext cx="18525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9641434" y="2377440"/>
            <a:ext cx="18525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ระเบียบ ข้อมูล คน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9641434" y="2852928"/>
            <a:ext cx="185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สิ่งที่อาจทำให้ทำไม่ได้จริง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9641434" y="4572000"/>
            <a:ext cx="18525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548640" y="5285232"/>
            <a:ext cx="11091672" cy="960120"/>
          </a:xfrm>
          <a:prstGeom prst="roundRect">
            <a:avLst>
              <a:gd fmla="val 7619" name="adj"/>
            </a:avLst>
          </a:prstGeom>
          <a:solidFill>
            <a:srgbClr val="0E2A47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868680" y="5486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arabu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อ่านจากซ้ายไปขวาเสมอ: ถ้าคอลัมน์ใดคอลัมน์หนึ่งว่าง แปลว่าฟีเจอร์นั้นยังไม่พร้อมนำไปใช้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Sarabun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/>
          <p:nvPr/>
        </p:nvSpPr>
        <p:spPr>
          <a:xfrm>
            <a:off x="1030458" y="2788920"/>
            <a:ext cx="10131083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9B32"/>
              </a:buClr>
              <a:buSzPts val="7200"/>
              <a:buFont typeface="Sarabun"/>
              <a:buNone/>
            </a:pPr>
            <a:r>
              <a:rPr b="1" i="0" lang="en-US" sz="7200" u="none" cap="none" strike="noStrike">
                <a:solidFill>
                  <a:srgbClr val="E39B32"/>
                </a:solidFill>
                <a:latin typeface="Sarabun"/>
                <a:ea typeface="Sarabun"/>
                <a:cs typeface="Sarabun"/>
                <a:sym typeface="Sarabun"/>
              </a:rPr>
              <a:t>Feedback Capture Grid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9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1B998B"/>
                </a:solidFill>
                <a:latin typeface="Sarabun"/>
                <a:ea typeface="Sarabun"/>
                <a:cs typeface="Sarabun"/>
                <a:sym typeface="Sarabun"/>
              </a:rPr>
              <a:t>SESSION 2.5 · เครื่องมือ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Feedback Capture Grid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48640" y="12984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ใช้หนึ่งแผ่นต่อหนึ่งฐาน จดระหว่างฟัง ไม่ต้องรอให้จบ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48640" y="1691640"/>
            <a:ext cx="5408676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48640" y="1691640"/>
            <a:ext cx="5408676" cy="566928"/>
          </a:xfrm>
          <a:prstGeom prst="roundRect">
            <a:avLst>
              <a:gd fmla="val 12903" name="adj"/>
            </a:avLst>
          </a:prstGeom>
          <a:solidFill>
            <a:srgbClr val="1B99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68096" y="1691640"/>
            <a:ext cx="49697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สิ่งที่ผู้เชี่ยวชาญชื่นชม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68096" y="2377440"/>
            <a:ext cx="49697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จุดแข็งที่ควรรักษาไว้ และเหตุผลที่ทำให้เป็นจุดแข็ง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68096" y="2926080"/>
            <a:ext cx="4969764" cy="640080"/>
          </a:xfrm>
          <a:prstGeom prst="roundRect">
            <a:avLst>
              <a:gd fmla="val 7143" name="adj"/>
            </a:avLst>
          </a:prstGeom>
          <a:solidFill>
            <a:srgbClr val="F0F4F8"/>
          </a:solidFill>
          <a:ln cap="flat" cmpd="sng" w="9525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768096" y="2926080"/>
            <a:ext cx="49697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พื้นที่บันทึก / 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231636" y="1691640"/>
            <a:ext cx="5408676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231636" y="1691640"/>
            <a:ext cx="5408676" cy="566928"/>
          </a:xfrm>
          <a:prstGeom prst="roundRect">
            <a:avLst>
              <a:gd fmla="val 12903" name="adj"/>
            </a:avLst>
          </a:prstGeom>
          <a:solidFill>
            <a:srgbClr val="C1462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451092" y="1691640"/>
            <a:ext cx="49697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ข้อกังวลและความเสี่ยง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451092" y="2377440"/>
            <a:ext cx="49697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สิ่งที่ผู้เชี่ยวชาญเห็นว่าอาจทำไม่ได้ หรือมีผลกระทบที่ยังไม่ได้คิด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451092" y="2926080"/>
            <a:ext cx="4969764" cy="640080"/>
          </a:xfrm>
          <a:prstGeom prst="roundRect">
            <a:avLst>
              <a:gd fmla="val 7143" name="adj"/>
            </a:avLst>
          </a:prstGeom>
          <a:solidFill>
            <a:srgbClr val="F0F4F8"/>
          </a:solidFill>
          <a:ln cap="flat" cmpd="sng" w="9525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451092" y="2926080"/>
            <a:ext cx="49697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พื้นที่บันทึก / 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48640" y="3977640"/>
            <a:ext cx="5408676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548640" y="3977640"/>
            <a:ext cx="5408676" cy="566928"/>
          </a:xfrm>
          <a:prstGeom prst="roundRect">
            <a:avLst>
              <a:gd fmla="val 12903" name="adj"/>
            </a:avLst>
          </a:prstGeom>
          <a:solidFill>
            <a:srgbClr val="E39B3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768096" y="3977640"/>
            <a:ext cx="49697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B30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071B30"/>
                </a:solidFill>
                <a:latin typeface="Sarabun"/>
                <a:ea typeface="Sarabun"/>
                <a:cs typeface="Sarabun"/>
                <a:sym typeface="Sarabun"/>
              </a:rPr>
              <a:t>คำถามที่ยังตอบไม่ได้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768096" y="4663440"/>
            <a:ext cx="49697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คำถามที่กลุ่มตอบไม่ได้ในฐาน ต้องกลับไปหาคำตอบ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68096" y="5212080"/>
            <a:ext cx="4969764" cy="640080"/>
          </a:xfrm>
          <a:prstGeom prst="roundRect">
            <a:avLst>
              <a:gd fmla="val 7143" name="adj"/>
            </a:avLst>
          </a:prstGeom>
          <a:solidFill>
            <a:srgbClr val="F0F4F8"/>
          </a:solidFill>
          <a:ln cap="flat" cmpd="sng" w="9525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768096" y="5212080"/>
            <a:ext cx="49697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พื้นที่บันทึก / 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231636" y="3977640"/>
            <a:ext cx="5408676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6231636" y="3977640"/>
            <a:ext cx="5408676" cy="566928"/>
          </a:xfrm>
          <a:prstGeom prst="roundRect">
            <a:avLst>
              <a:gd fmla="val 12903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451092" y="3977640"/>
            <a:ext cx="49697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arabu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ไอเดียใหม่ที่ได้รับ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451092" y="4663440"/>
            <a:ext cx="49697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ข้อเสนอ ทางเลือก หรือแหล่งข้อมูลที่ผู้เชี่ยวชาญแนะนำ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451092" y="5212080"/>
            <a:ext cx="4969764" cy="640080"/>
          </a:xfrm>
          <a:prstGeom prst="roundRect">
            <a:avLst>
              <a:gd fmla="val 7143" name="adj"/>
            </a:avLst>
          </a:prstGeom>
          <a:solidFill>
            <a:srgbClr val="F0F4F8"/>
          </a:solidFill>
          <a:ln cap="flat" cmpd="sng" w="9525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6451092" y="5212080"/>
            <a:ext cx="49697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AB8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9AAAB8"/>
                </a:solidFill>
                <a:latin typeface="Sarabun"/>
                <a:ea typeface="Sarabun"/>
                <a:cs typeface="Sarabun"/>
                <a:sym typeface="Sarabun"/>
              </a:rPr>
              <a:t>พื้นที่บันทึก / แปะ Post-it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Sarabun"/>
              <a:buNone/>
            </a:pPr>
            <a:r>
              <a:rPr b="0" i="0" lang="en-US" sz="12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ฐานที่ ______  ผู้เชี่ยวชาญ ____________________  กลุ่มที่ ______  ผู้จดบันทึก ____________________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Sarabun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17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9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1B998B"/>
                </a:solidFill>
                <a:latin typeface="Sarabun"/>
                <a:ea typeface="Sarabun"/>
                <a:cs typeface="Sarabun"/>
                <a:sym typeface="Sarabun"/>
              </a:rPr>
              <a:t>SESSION 2.5 · การคัดกรอง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จัดกลุ่มข้อเสนอแนะเป็น 3 ประเภท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48640" y="1554480"/>
            <a:ext cx="3514344" cy="4114800"/>
          </a:xfrm>
          <a:prstGeom prst="roundRect">
            <a:avLst>
              <a:gd fmla="val 2082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48640" y="1554480"/>
            <a:ext cx="3514344" cy="960120"/>
          </a:xfrm>
          <a:prstGeom prst="roundRect">
            <a:avLst>
              <a:gd fmla="val 7619" name="adj"/>
            </a:avLst>
          </a:prstGeom>
          <a:solidFill>
            <a:srgbClr val="C1462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786384" y="1664208"/>
            <a:ext cx="30571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arabun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Must Do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86384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Sarabun"/>
                <a:ea typeface="Sarabun"/>
                <a:cs typeface="Sarabun"/>
                <a:sym typeface="Sarabun"/>
              </a:rPr>
              <a:t>ต้องทำทันที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786384" y="2697480"/>
            <a:ext cx="3038856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เป็นเงื่อนไขที่ทำให้โครงการทำไม่ได้ถ้าไม่แก้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เกี่ยวข้องกับระเบียบ ความปลอดภัยของข้อมูล หรือสิทธิของประชาชน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นำเข้าสู่ AI Service Blueprint ในช่วงบ่ายทันที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337304" y="1554480"/>
            <a:ext cx="3514344" cy="4114800"/>
          </a:xfrm>
          <a:prstGeom prst="roundRect">
            <a:avLst>
              <a:gd fmla="val 2082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337304" y="1554480"/>
            <a:ext cx="3514344" cy="960120"/>
          </a:xfrm>
          <a:prstGeom prst="roundRect">
            <a:avLst>
              <a:gd fmla="val 7619" name="adj"/>
            </a:avLst>
          </a:prstGeom>
          <a:solidFill>
            <a:srgbClr val="E39B3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575048" y="1664208"/>
            <a:ext cx="30571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arabun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Need Validation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575048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Sarabun"/>
                <a:ea typeface="Sarabun"/>
                <a:cs typeface="Sarabun"/>
                <a:sym typeface="Sarabun"/>
              </a:rPr>
              <a:t>ต้องตรวจสอบเพิ่ม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575048" y="2697480"/>
            <a:ext cx="3038856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ยังไม่มีหลักฐานยืนยันว่าจริงหรือไม่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ต้องระบุว่าใครจะไปตรวจสอบ และตรวจสอบกับใคร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ตั้งเป็นสมมติฐานไว้ใน Blueprint พร้อมเครื่องหมายคำถาม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125968" y="1554480"/>
            <a:ext cx="3514344" cy="4114800"/>
          </a:xfrm>
          <a:prstGeom prst="roundRect">
            <a:avLst>
              <a:gd fmla="val 2082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8125968" y="1554480"/>
            <a:ext cx="3514344" cy="960120"/>
          </a:xfrm>
          <a:prstGeom prst="roundRect">
            <a:avLst>
              <a:gd fmla="val 7619" name="adj"/>
            </a:avLst>
          </a:prstGeom>
          <a:solidFill>
            <a:srgbClr val="5A6B7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8363712" y="1664208"/>
            <a:ext cx="30571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arabun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Future Consideration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8363712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Sarabun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Sarabun"/>
                <a:ea typeface="Sarabun"/>
                <a:cs typeface="Sarabun"/>
                <a:sym typeface="Sarabun"/>
              </a:rPr>
              <a:t>ยังไม่นำมาใช้ตอนนี้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363712" y="2697480"/>
            <a:ext cx="3038856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เกินขอบเขตเวลา 1 ปี หรือเกินอำนาจของกลุ่ม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ไม่ตัดทิ้ง แต่บันทึกไว้เป็นแนวทางพัฒนาในระยะถัดไป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Sarabun"/>
              <a:buChar char="•"/>
            </a:pPr>
            <a:r>
              <a:rPr b="0" i="0" lang="en-US" sz="12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ระบุเหตุผลที่ยังไม่ทำ เพื่อใช้ตอบกรรมการได้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9B32"/>
              </a:buClr>
              <a:buSzPts val="1300"/>
              <a:buFont typeface="Sarabun"/>
              <a:buNone/>
            </a:pPr>
            <a:r>
              <a:rPr b="1" i="0" lang="en-US" sz="1300" u="none" cap="none" strike="noStrike">
                <a:solidFill>
                  <a:srgbClr val="E39B32"/>
                </a:solidFill>
                <a:latin typeface="Sarabun"/>
                <a:ea typeface="Sarabun"/>
                <a:cs typeface="Sarabun"/>
                <a:sym typeface="Sarabun"/>
              </a:rPr>
              <a:t>ทุกข้อเสนอแนะต้องถูกจัดกลุ่มก่อนพักกลางวัน เพื่อให้ช่วงบ่ายเริ่มออกแบบระบบได้ทันที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Sarabun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18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1030458" y="2788920"/>
            <a:ext cx="10131083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9B32"/>
              </a:buClr>
              <a:buSzPts val="7200"/>
              <a:buFont typeface="Sarabun"/>
              <a:buNone/>
            </a:pPr>
            <a:r>
              <a:rPr b="1" i="0" lang="en-US" sz="7200" u="none" cap="none" strike="noStrike">
                <a:solidFill>
                  <a:srgbClr val="E39B32"/>
                </a:solidFill>
                <a:latin typeface="Sarabun"/>
                <a:ea typeface="Sarabun"/>
                <a:cs typeface="Sarabun"/>
                <a:sym typeface="Sarabun"/>
              </a:rPr>
              <a:t>AI Service Blueprint Canvas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9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1B998B"/>
                </a:solidFill>
                <a:latin typeface="Sarabun"/>
                <a:ea typeface="Sarabun"/>
                <a:cs typeface="Sarabun"/>
                <a:sym typeface="Sarabun"/>
              </a:rPr>
              <a:t>SESSION 2.6 · เครื่องมือหลักของช่วงบ่าย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AI Service Blueprint Canvas — ภาพรวมทั้ง 6 ชั้น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8640" y="1389888"/>
            <a:ext cx="11091672" cy="795528"/>
          </a:xfrm>
          <a:prstGeom prst="roundRect">
            <a:avLst>
              <a:gd fmla="val 9195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48640" y="1389888"/>
            <a:ext cx="566928" cy="795528"/>
          </a:xfrm>
          <a:prstGeom prst="roundRect">
            <a:avLst>
              <a:gd fmla="val 12903" name="adj"/>
            </a:avLst>
          </a:prstGeom>
          <a:solidFill>
            <a:srgbClr val="1B99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48640" y="1389888"/>
            <a:ext cx="56692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arabu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261872" y="148132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Sarabun"/>
              <a:buNone/>
            </a:pPr>
            <a:r>
              <a:rPr b="1" i="0" lang="en-US" sz="14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การกระทำของผู้ใช้งาน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261872" y="1810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100"/>
              <a:buFont typeface="Sarabun"/>
              <a:buNone/>
            </a:pPr>
            <a:r>
              <a:rPr b="0" i="0" lang="en-US" sz="1100" u="none" cap="none" strike="noStrike">
                <a:solidFill>
                  <a:srgbClr val="1B998B"/>
                </a:solidFill>
                <a:latin typeface="Sarabun"/>
                <a:ea typeface="Sarabun"/>
                <a:cs typeface="Sarabun"/>
                <a:sym typeface="Sarabun"/>
              </a:rPr>
              <a:t>User Actions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160520" y="1499616"/>
            <a:ext cx="3977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เส้นทางหรือขั้นตอนที่ชาวบ้าน เจ้าหน้าที่ หรือพัฒนากรลงมือทำโดยตรง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275320" y="1499616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ตัวอย่าง: กดเข้าแอป, พิมพ์คำถาม, อัปโหลดเอกสาร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48640" y="2240280"/>
            <a:ext cx="11091672" cy="795528"/>
          </a:xfrm>
          <a:prstGeom prst="roundRect">
            <a:avLst>
              <a:gd fmla="val 9195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548640" y="2240280"/>
            <a:ext cx="566928" cy="795528"/>
          </a:xfrm>
          <a:prstGeom prst="roundRect">
            <a:avLst>
              <a:gd fmla="val 12903" name="adj"/>
            </a:avLst>
          </a:prstGeom>
          <a:solidFill>
            <a:srgbClr val="12756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48640" y="2240280"/>
            <a:ext cx="56692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arabu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261872" y="233172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Sarabun"/>
              <a:buNone/>
            </a:pPr>
            <a:r>
              <a:rPr b="1" i="0" lang="en-US" sz="14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การโต้ตอบหน้าบ้าน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261872" y="26609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756B"/>
              </a:buClr>
              <a:buSzPts val="1100"/>
              <a:buFont typeface="Sarabun"/>
              <a:buNone/>
            </a:pPr>
            <a:r>
              <a:rPr b="0" i="0" lang="en-US" sz="1100" u="none" cap="none" strike="noStrike">
                <a:solidFill>
                  <a:srgbClr val="12756B"/>
                </a:solidFill>
                <a:latin typeface="Sarabun"/>
                <a:ea typeface="Sarabun"/>
                <a:cs typeface="Sarabun"/>
                <a:sym typeface="Sarabun"/>
              </a:rPr>
              <a:t>Front-stage Interactions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160520" y="2350008"/>
            <a:ext cx="3977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สิ่งที่ผู้ใช้งานมองเห็น ได้รับข้อความ หรือโต้ตอบผ่านหน้าจอและช่องทางบริการ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8275320" y="2350008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ตัวอย่าง: หน้าจอ UI, แชทบอท, Dashboard, การแจ้งเตือน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48640" y="3090672"/>
            <a:ext cx="11091672" cy="795528"/>
          </a:xfrm>
          <a:prstGeom prst="roundRect">
            <a:avLst>
              <a:gd fmla="val 9195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48640" y="3090672"/>
            <a:ext cx="566928" cy="795528"/>
          </a:xfrm>
          <a:prstGeom prst="roundRect">
            <a:avLst>
              <a:gd fmla="val 12903" name="adj"/>
            </a:avLst>
          </a:prstGeom>
          <a:solidFill>
            <a:srgbClr val="1D5A8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548640" y="3090672"/>
            <a:ext cx="56692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arabu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261872" y="318211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Sarabun"/>
              <a:buNone/>
            </a:pPr>
            <a:r>
              <a:rPr b="1" i="0" lang="en-US" sz="14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การทำงานหลังบ้าน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261872" y="35112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A87"/>
              </a:buClr>
              <a:buSzPts val="1100"/>
              <a:buFont typeface="Sarabun"/>
              <a:buNone/>
            </a:pPr>
            <a:r>
              <a:rPr b="0" i="0" lang="en-US" sz="1100" u="none" cap="none" strike="noStrike">
                <a:solidFill>
                  <a:srgbClr val="1D5A87"/>
                </a:solidFill>
                <a:latin typeface="Sarabun"/>
                <a:ea typeface="Sarabun"/>
                <a:cs typeface="Sarabun"/>
                <a:sym typeface="Sarabun"/>
              </a:rPr>
              <a:t>Back-stage Actions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160520" y="3200400"/>
            <a:ext cx="3977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กระบวนการของระบบที่ผู้ใช้งานมองไม่เห็น เพื่อรับคำสั่ง ประมวลผล และเชื่อมต่อบริการ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8275320" y="3200400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ตัวอย่าง: โยนคำถามให้ AI, ดึงฐานข้อมูล, เรียก API, บันทึก Log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48640" y="3941064"/>
            <a:ext cx="11091672" cy="795528"/>
          </a:xfrm>
          <a:prstGeom prst="roundRect">
            <a:avLst>
              <a:gd fmla="val 9195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48640" y="3941064"/>
            <a:ext cx="566928" cy="795528"/>
          </a:xfrm>
          <a:prstGeom prst="roundRect">
            <a:avLst>
              <a:gd fmla="val 12903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548640" y="3941064"/>
            <a:ext cx="56692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arabu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261872" y="4032504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Sarabun"/>
              <a:buNone/>
            </a:pPr>
            <a:r>
              <a:rPr b="1" i="0" lang="en-US" sz="14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จุดที่ AI ออกโรงและตรรกะ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1261872" y="43616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Sarabun"/>
              <a:buNone/>
            </a:pPr>
            <a:r>
              <a:rPr b="0" i="0" lang="en-US" sz="11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AI Intervention &amp; Logic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160520" y="4050792"/>
            <a:ext cx="3977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จุดที่ AI ตัดสินใจ วิเคราะห์ สรุป แนะนำ หรือใช้ Prompt และกฎเกณฑ์กำกับการตอบ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8275320" y="4050792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ตัวอย่าง: วิเคราะห์ความเสี่ยง, สรุปข้อมูล, แนะนำขั้นตอน, ตรวจเงื่อนไข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48640" y="4791456"/>
            <a:ext cx="11091672" cy="795528"/>
          </a:xfrm>
          <a:prstGeom prst="roundRect">
            <a:avLst>
              <a:gd fmla="val 9195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48640" y="4791456"/>
            <a:ext cx="566928" cy="795528"/>
          </a:xfrm>
          <a:prstGeom prst="roundRect">
            <a:avLst>
              <a:gd fmla="val 12903" name="adj"/>
            </a:avLst>
          </a:prstGeom>
          <a:solidFill>
            <a:srgbClr val="6B4E9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48640" y="4791456"/>
            <a:ext cx="56692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arabu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261872" y="4882896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Sarabun"/>
              <a:buNone/>
            </a:pPr>
            <a:r>
              <a:rPr b="1" i="0" lang="en-US" sz="14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ฐานข้อมูลสนับสนุน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1261872" y="5212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1100"/>
              <a:buFont typeface="Sarabun"/>
              <a:buNone/>
            </a:pPr>
            <a:r>
              <a:rPr b="0" i="0" lang="en-US" sz="1100" u="none" cap="none" strike="noStrike">
                <a:solidFill>
                  <a:srgbClr val="6B4E9E"/>
                </a:solidFill>
                <a:latin typeface="Sarabun"/>
                <a:ea typeface="Sarabun"/>
                <a:cs typeface="Sarabun"/>
                <a:sym typeface="Sarabun"/>
              </a:rPr>
              <a:t>Data Sources / Support Systems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160520" y="4901184"/>
            <a:ext cx="3977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แหล่งข้อมูล ระบบสนับสนุน หรือเอกสารอ้างอิงที่ใช้ป้อนให้ AI และระบบบริการ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275320" y="4901184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ตัวอย่าง: ระเบียบกรมฯ, ฐานข้อมูล OTOP, เอกสารเก่า, ระบบ Legacy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48640" y="5641848"/>
            <a:ext cx="11091672" cy="795528"/>
          </a:xfrm>
          <a:prstGeom prst="roundRect">
            <a:avLst>
              <a:gd fmla="val 9195" name="adj"/>
            </a:avLst>
          </a:prstGeom>
          <a:solidFill>
            <a:srgbClr val="FDF0E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548640" y="5641848"/>
            <a:ext cx="566928" cy="795528"/>
          </a:xfrm>
          <a:prstGeom prst="roundRect">
            <a:avLst>
              <a:gd fmla="val 12903" name="adj"/>
            </a:avLst>
          </a:prstGeom>
          <a:solidFill>
            <a:srgbClr val="C1462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548640" y="5641848"/>
            <a:ext cx="56692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arabu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6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1261872" y="573328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Sarabun"/>
              <a:buNone/>
            </a:pPr>
            <a:r>
              <a:rPr b="1" i="0" lang="en-US" sz="14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แผนสำรองและจุดที่ใช้คน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1261872" y="60624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462F"/>
              </a:buClr>
              <a:buSzPts val="1100"/>
              <a:buFont typeface="Sarabun"/>
              <a:buNone/>
            </a:pPr>
            <a:r>
              <a:rPr b="0" i="0" lang="en-US" sz="1100" u="none" cap="none" strike="noStrike">
                <a:solidFill>
                  <a:srgbClr val="C1462F"/>
                </a:solidFill>
                <a:latin typeface="Sarabun"/>
                <a:ea typeface="Sarabun"/>
                <a:cs typeface="Sarabun"/>
                <a:sym typeface="Sarabun"/>
              </a:rPr>
              <a:t>Fallback &amp; Human-in-the-Loop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160520" y="5751576"/>
            <a:ext cx="3977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แผนสำรองเมื่อ AI ตอบผิด หาข้อมูลไม่เจอ ระบบล่ม หรือเกิดกรณีเสี่ยงที่ต้องให้คนรับช่วง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275320" y="5751576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Sarabun"/>
              <a:buNone/>
            </a:pPr>
            <a:r>
              <a:rPr b="0" i="1" lang="en-US" sz="11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ตัวอย่าง: เจ้าหน้าที่รับช่วง, ใช้ระบบเดิม, โทรกลับ, ตรวจทานด้วยคน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48640" y="64282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462F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C1462F"/>
                </a:solidFill>
                <a:latin typeface="Sarabun"/>
                <a:ea typeface="Sarabun"/>
                <a:cs typeface="Sarabun"/>
                <a:sym typeface="Sarabun"/>
              </a:rPr>
              <a:t>แถวที่ 6 คือหัวใจของการทำ Stress Test และเป็นฐานของการบ้านคืนนี้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Sarabun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22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1030458" y="2788920"/>
            <a:ext cx="10131083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9B32"/>
              </a:buClr>
              <a:buSzPts val="6600"/>
              <a:buFont typeface="Sarabun"/>
              <a:buNone/>
            </a:pPr>
            <a:r>
              <a:rPr b="1" i="0" lang="en-US" sz="6600" u="none" cap="none" strike="noStrike">
                <a:solidFill>
                  <a:srgbClr val="E39B32"/>
                </a:solidFill>
                <a:latin typeface="Sarabun"/>
                <a:ea typeface="Sarabun"/>
                <a:cs typeface="Sarabun"/>
                <a:sym typeface="Sarabun"/>
              </a:rPr>
              <a:t>แบบฟอร์มบันทึกจุดล้มเหลวและแผนสำรอง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9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1B998B"/>
                </a:solidFill>
                <a:latin typeface="Sarabun"/>
                <a:ea typeface="Sarabun"/>
                <a:cs typeface="Sarabun"/>
                <a:sym typeface="Sarabun"/>
              </a:rPr>
              <a:t>SESSION 2.7 · แบบฟอร์ม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แบบฟอร์มบันทึกจุดล้มเหลวและแผนสำรอง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548640" y="1463040"/>
            <a:ext cx="2704338" cy="640080"/>
          </a:xfrm>
          <a:prstGeom prst="roundRect">
            <a:avLst>
              <a:gd fmla="val 8571" name="adj"/>
            </a:avLst>
          </a:prstGeom>
          <a:solidFill>
            <a:srgbClr val="C1462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640080" y="1463040"/>
            <a:ext cx="25214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จุดล้มเหลว (Failure Point)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344418" y="1463040"/>
            <a:ext cx="2704338" cy="640080"/>
          </a:xfrm>
          <a:prstGeom prst="roundRect">
            <a:avLst>
              <a:gd fmla="val 8571" name="adj"/>
            </a:avLst>
          </a:prstGeom>
          <a:solidFill>
            <a:srgbClr val="E39B3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3435858" y="1463040"/>
            <a:ext cx="25214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B30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071B30"/>
                </a:solidFill>
                <a:latin typeface="Sarabun"/>
                <a:ea typeface="Sarabun"/>
                <a:cs typeface="Sarabun"/>
                <a:sym typeface="Sarabun"/>
              </a:rPr>
              <a:t>สัญญาณเตือน (Warning Signal)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6140196" y="1463040"/>
            <a:ext cx="2704338" cy="640080"/>
          </a:xfrm>
          <a:prstGeom prst="roundRect">
            <a:avLst>
              <a:gd fmla="val 8571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6231636" y="1463040"/>
            <a:ext cx="25214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ผู้รับผิดชอบ (Responsible)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8935974" y="1463040"/>
            <a:ext cx="2704338" cy="640080"/>
          </a:xfrm>
          <a:prstGeom prst="roundRect">
            <a:avLst>
              <a:gd fmla="val 8571" name="adj"/>
            </a:avLst>
          </a:prstGeom>
          <a:solidFill>
            <a:srgbClr val="1B99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9027414" y="1463040"/>
            <a:ext cx="25214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arabu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วิธีรับช่วง (Fallback Action)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548640" y="2212848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DF0E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694944" y="2322576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AI สรุปเงื่อนไขจากระเบียบผิด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344418" y="2212848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3490722" y="2322576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เจ้าหน้าที่พบผลตรวจไม่ตรงกับระเบียบเกิน 2 ครั้งต่อสัปดาห์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140196" y="2212848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6286500" y="2322576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เจ้าหน้าที่ผู้ดูแลระบบร่วมกับผู้รับผิดชอบด้านระเบียบ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935974" y="2212848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9082278" y="2322576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ปิดการแสดงผลอัตโนมัติ และให้เจ้าหน้าที่ตรวจด้วยตนเองทุกกรณี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48640" y="3474720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DF0E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694944" y="3584448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ระบบไม่สามารถเข้าถึงฐานข้อมูลได้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344418" y="3474720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3490722" y="3584448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หน้าจอแสดงผลค้างหรือไม่มีข้อมูลย้อนหลัง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140196" y="3474720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6286500" y="3584448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ผู้ดูแลระบบของหน่วยงานเจ้าของข้อมูล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8935974" y="3474720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9082278" y="3584448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สลับไปใช้แบบฟอร์มเดิมชั่วคราว และบันทึกย้อนหลังเมื่อระบบกลับมา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48640" y="4736592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DF0ED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694944" y="4846320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ผู้ใช้งานในพื้นที่ไม่ยอมใช้ระบบ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344418" y="4736592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3490722" y="4846320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จำนวนการใช้งานในพื้นที่ต่ำกว่าเป้าหมายติดต่อกัน 1 เดือน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140196" y="4736592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6286500" y="4846320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พัฒนากรผู้ประสานงานพื้นที่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8935974" y="4736592"/>
            <a:ext cx="2704338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9082278" y="4846320"/>
            <a:ext cx="241173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50"/>
              <a:buFont typeface="Sarabun"/>
              <a:buNone/>
            </a:pPr>
            <a:r>
              <a:rPr b="0" i="0" lang="en-US" sz="115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ลงพื้นที่สอบถามสาเหตุ และเปิดช่องทางเดิมควบคู่ไปก่อน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Sarabun"/>
              <a:buNone/>
            </a:pPr>
            <a:r>
              <a:rPr b="0" i="1" lang="en-US" sz="125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ตัวอย่างข้างต้นเป็นเพียงแนวทาง แต่ละกลุ่มต้องเขียนกรณีของตนเองอย่างน้อย 3 กรณีในการบ้านคืนนี้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Sarabun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36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9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Sarabun"/>
              <a:buNone/>
            </a:pPr>
            <a:r>
              <a:rPr b="1" i="0" lang="en-US" sz="1200" u="none" cap="none" strike="noStrike">
                <a:solidFill>
                  <a:srgbClr val="1B998B"/>
                </a:solidFill>
                <a:latin typeface="Sarabun"/>
                <a:ea typeface="Sarabun"/>
                <a:cs typeface="Sarabun"/>
                <a:sym typeface="Sarabun"/>
              </a:rPr>
              <a:t>SESSION 2.7 · ปิดรอบ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Sarabun"/>
              <a:buNone/>
            </a:pPr>
            <a:r>
              <a:rPr b="1" i="0" lang="en-US" sz="3000" u="none" cap="none" strike="noStrike">
                <a:solidFill>
                  <a:srgbClr val="0E2A47"/>
                </a:solidFill>
                <a:latin typeface="Sarabun"/>
                <a:ea typeface="Sarabun"/>
                <a:cs typeface="Sarabun"/>
                <a:sym typeface="Sarabun"/>
              </a:rPr>
              <a:t>แบบสรุปข้อแก้ไขและการปรับผังรอบสุดท้าย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548640" y="1508760"/>
            <a:ext cx="2704338" cy="621792"/>
          </a:xfrm>
          <a:prstGeom prst="roundRect">
            <a:avLst>
              <a:gd fmla="val 8824" name="adj"/>
            </a:avLst>
          </a:prstGeom>
          <a:solidFill>
            <a:srgbClr val="0E2A4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640080" y="1508760"/>
            <a:ext cx="252145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arabun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ข้อสังเกตที่ได้รับ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48640" y="2221992"/>
            <a:ext cx="2704338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694944" y="2359152"/>
            <a:ext cx="241173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Sarabun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เขียนตามที่กลุ่มผู้ตรวจเขียนไว้ ไม่ต้องโต้แย้งในขั้นนี้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11"/>
          <p:cNvCxnSpPr/>
          <p:nvPr/>
        </p:nvCxnSpPr>
        <p:spPr>
          <a:xfrm>
            <a:off x="694944" y="3383280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" name="Google Shape;350;p11"/>
          <p:cNvCxnSpPr/>
          <p:nvPr/>
        </p:nvCxnSpPr>
        <p:spPr>
          <a:xfrm>
            <a:off x="694944" y="3767328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11"/>
          <p:cNvCxnSpPr/>
          <p:nvPr/>
        </p:nvCxnSpPr>
        <p:spPr>
          <a:xfrm>
            <a:off x="694944" y="4151376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2" name="Google Shape;352;p11"/>
          <p:cNvSpPr/>
          <p:nvPr/>
        </p:nvSpPr>
        <p:spPr>
          <a:xfrm>
            <a:off x="3344418" y="1508760"/>
            <a:ext cx="2704338" cy="621792"/>
          </a:xfrm>
          <a:prstGeom prst="roundRect">
            <a:avLst>
              <a:gd fmla="val 8824" name="adj"/>
            </a:avLst>
          </a:prstGeom>
          <a:solidFill>
            <a:srgbClr val="E39B3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3435858" y="1508760"/>
            <a:ext cx="252145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B30"/>
              </a:buClr>
              <a:buSzPts val="1300"/>
              <a:buFont typeface="Sarabun"/>
              <a:buNone/>
            </a:pPr>
            <a:r>
              <a:rPr b="1" i="0" lang="en-US" sz="1300" u="none" cap="none" strike="noStrike">
                <a:solidFill>
                  <a:srgbClr val="071B30"/>
                </a:solidFill>
                <a:latin typeface="Sarabun"/>
                <a:ea typeface="Sarabun"/>
                <a:cs typeface="Sarabun"/>
                <a:sym typeface="Sarabun"/>
              </a:rPr>
              <a:t>ยอมรับหรือไม่ เพราะอะไร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3344418" y="2221992"/>
            <a:ext cx="2704338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3490722" y="2359152"/>
            <a:ext cx="241173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Sarabun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ถ้าไม่แก้ ต้องเขียนเหตุผลไว้เพื่อใช้ตอบผู้เชี่ยวชาญวันพรุ่งนี้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1"/>
          <p:cNvCxnSpPr/>
          <p:nvPr/>
        </p:nvCxnSpPr>
        <p:spPr>
          <a:xfrm>
            <a:off x="3490722" y="3383280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7" name="Google Shape;357;p11"/>
          <p:cNvCxnSpPr/>
          <p:nvPr/>
        </p:nvCxnSpPr>
        <p:spPr>
          <a:xfrm>
            <a:off x="3490722" y="3767328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8" name="Google Shape;358;p11"/>
          <p:cNvCxnSpPr/>
          <p:nvPr/>
        </p:nvCxnSpPr>
        <p:spPr>
          <a:xfrm>
            <a:off x="3490722" y="4151376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9" name="Google Shape;359;p11"/>
          <p:cNvSpPr/>
          <p:nvPr/>
        </p:nvSpPr>
        <p:spPr>
          <a:xfrm>
            <a:off x="6140196" y="1508760"/>
            <a:ext cx="2704338" cy="621792"/>
          </a:xfrm>
          <a:prstGeom prst="roundRect">
            <a:avLst>
              <a:gd fmla="val 8824" name="adj"/>
            </a:avLst>
          </a:prstGeom>
          <a:solidFill>
            <a:srgbClr val="1B998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6231636" y="1508760"/>
            <a:ext cx="252145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arabun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จะแก้ที่ชั้นใดของผัง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140196" y="2221992"/>
            <a:ext cx="2704338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6286500" y="2359152"/>
            <a:ext cx="241173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Sarabun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ระบุหมายเลขชั้น 1 ถึง 6 ที่ต้องแก้ไข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1"/>
          <p:cNvCxnSpPr/>
          <p:nvPr/>
        </p:nvCxnSpPr>
        <p:spPr>
          <a:xfrm>
            <a:off x="6286500" y="3383280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4" name="Google Shape;364;p11"/>
          <p:cNvCxnSpPr/>
          <p:nvPr/>
        </p:nvCxnSpPr>
        <p:spPr>
          <a:xfrm>
            <a:off x="6286500" y="3767328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5" name="Google Shape;365;p11"/>
          <p:cNvCxnSpPr/>
          <p:nvPr/>
        </p:nvCxnSpPr>
        <p:spPr>
          <a:xfrm>
            <a:off x="6286500" y="4151376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6" name="Google Shape;366;p11"/>
          <p:cNvSpPr/>
          <p:nvPr/>
        </p:nvSpPr>
        <p:spPr>
          <a:xfrm>
            <a:off x="8935974" y="1508760"/>
            <a:ext cx="2704338" cy="621792"/>
          </a:xfrm>
          <a:prstGeom prst="roundRect">
            <a:avLst>
              <a:gd fmla="val 8824" name="adj"/>
            </a:avLst>
          </a:prstGeom>
          <a:solidFill>
            <a:srgbClr val="12756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9027414" y="1508760"/>
            <a:ext cx="252145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arabun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ใครแก้ และแก้เสร็จเมื่อใด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8935974" y="2221992"/>
            <a:ext cx="2704338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9082278" y="2359152"/>
            <a:ext cx="241173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Sarabun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ระบุชื่อผู้รับผิดชอบและกำหนดเวลา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11"/>
          <p:cNvCxnSpPr/>
          <p:nvPr/>
        </p:nvCxnSpPr>
        <p:spPr>
          <a:xfrm>
            <a:off x="9082278" y="3383280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1" name="Google Shape;371;p11"/>
          <p:cNvCxnSpPr/>
          <p:nvPr/>
        </p:nvCxnSpPr>
        <p:spPr>
          <a:xfrm>
            <a:off x="9082278" y="3767328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2" name="Google Shape;372;p11"/>
          <p:cNvCxnSpPr/>
          <p:nvPr/>
        </p:nvCxnSpPr>
        <p:spPr>
          <a:xfrm>
            <a:off x="9082278" y="4151376"/>
            <a:ext cx="2411730" cy="0"/>
          </a:xfrm>
          <a:prstGeom prst="straightConnector1">
            <a:avLst/>
          </a:prstGeom>
          <a:noFill/>
          <a:ln cap="flat" cmpd="sng" w="12700">
            <a:solidFill>
              <a:srgbClr val="D8E0E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3" name="Google Shape;373;p11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fmla="val 5333" name="adj"/>
            </a:avLst>
          </a:prstGeom>
          <a:solidFill>
            <a:srgbClr val="0E2A47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E2A4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868680" y="4983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9B32"/>
              </a:buClr>
              <a:buSzPts val="1300"/>
              <a:buFont typeface="Sarabun"/>
              <a:buNone/>
            </a:pPr>
            <a:r>
              <a:rPr b="1" i="0" lang="en-US" sz="1300" u="none" cap="none" strike="noStrike">
                <a:solidFill>
                  <a:srgbClr val="E39B32"/>
                </a:solidFill>
                <a:latin typeface="Sarabun"/>
                <a:ea typeface="Sarabun"/>
                <a:cs typeface="Sarabun"/>
                <a:sym typeface="Sarabun"/>
              </a:rPr>
              <a:t>ก่อนออกจากห้องในวันนี้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868680" y="5285232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arabun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ปรับผัง AI Service Blueprint ตามข้อสังเกตที่ยอมรับให้เรียบร้อย และถ่ายภาพเก็บไว้ทั้งกลุ่ม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arabun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รวบรวมข้อสังเกตที่ยังไม่ได้แก้ เพื่อใช้เป็นวัตถุดิบของการบ้าน The Worst-Case Scenario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Sarabun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Sarabun"/>
                <a:ea typeface="Sarabun"/>
                <a:cs typeface="Sarabun"/>
                <a:sym typeface="Sarabun"/>
              </a:rPr>
              <a:t>37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2026-07-20T13:13:07Z</dcterms:created>
  <dc:creator>Kom  Campiranon</dc:creator>
</cp:coreProperties>
</file>